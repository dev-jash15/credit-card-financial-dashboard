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83" r:id="rId3"/>
    <p:sldId id="284" r:id="rId4"/>
    <p:sldId id="285" r:id="rId5"/>
    <p:sldId id="286" r:id="rId6"/>
    <p:sldId id="289" r:id="rId7"/>
    <p:sldId id="288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05F4D6-2F64-36E3-9528-63233446CD4E}" v="182" dt="2024-12-10T23:24:29.249"/>
    <p1510:client id="{39433A32-6E60-4DF4-8E67-FEC69DD9883C}" v="2" dt="2024-12-11T17:35:48.796"/>
    <p1510:client id="{FFD2EBAB-DF32-2AA1-55F5-C2584D534D71}" v="7" dt="2024-12-10T23:07:44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el, Jash Miteshkumar" userId="S::j148p961@home.ku.edu::4c728cb0-58fa-4b0d-bcc7-024139908d54" providerId="AD" clId="Web-{0705F4D6-2F64-36E3-9528-63233446CD4E}"/>
    <pc:docChg chg="addSld delSld modSld sldOrd">
      <pc:chgData name="Patel, Jash Miteshkumar" userId="S::j148p961@home.ku.edu::4c728cb0-58fa-4b0d-bcc7-024139908d54" providerId="AD" clId="Web-{0705F4D6-2F64-36E3-9528-63233446CD4E}" dt="2024-12-10T23:24:29.249" v="171"/>
      <pc:docMkLst>
        <pc:docMk/>
      </pc:docMkLst>
      <pc:sldChg chg="addSp delSp modSp add del mod setBg modClrScheme chgLayout">
        <pc:chgData name="Patel, Jash Miteshkumar" userId="S::j148p961@home.ku.edu::4c728cb0-58fa-4b0d-bcc7-024139908d54" providerId="AD" clId="Web-{0705F4D6-2F64-36E3-9528-63233446CD4E}" dt="2024-12-10T23:23:18.045" v="165" actId="1076"/>
        <pc:sldMkLst>
          <pc:docMk/>
          <pc:sldMk cId="109857222" sldId="256"/>
        </pc:sldMkLst>
        <pc:spChg chg="mod ord">
          <ac:chgData name="Patel, Jash Miteshkumar" userId="S::j148p961@home.ku.edu::4c728cb0-58fa-4b0d-bcc7-024139908d54" providerId="AD" clId="Web-{0705F4D6-2F64-36E3-9528-63233446CD4E}" dt="2024-12-10T23:22:15.934" v="157" actId="1076"/>
          <ac:spMkLst>
            <pc:docMk/>
            <pc:sldMk cId="109857222" sldId="256"/>
            <ac:spMk id="2" creationId="{00000000-0000-0000-0000-000000000000}"/>
          </ac:spMkLst>
        </pc:spChg>
        <pc:spChg chg="del mod">
          <ac:chgData name="Patel, Jash Miteshkumar" userId="S::j148p961@home.ku.edu::4c728cb0-58fa-4b0d-bcc7-024139908d54" providerId="AD" clId="Web-{0705F4D6-2F64-36E3-9528-63233446CD4E}" dt="2024-12-10T23:09:16.999" v="4"/>
          <ac:spMkLst>
            <pc:docMk/>
            <pc:sldMk cId="109857222" sldId="256"/>
            <ac:spMk id="3" creationId="{00000000-0000-0000-0000-000000000000}"/>
          </ac:spMkLst>
        </pc:spChg>
        <pc:spChg chg="mod ord">
          <ac:chgData name="Patel, Jash Miteshkumar" userId="S::j148p961@home.ku.edu::4c728cb0-58fa-4b0d-bcc7-024139908d54" providerId="AD" clId="Web-{0705F4D6-2F64-36E3-9528-63233446CD4E}" dt="2024-12-10T23:09:16.999" v="4"/>
          <ac:spMkLst>
            <pc:docMk/>
            <pc:sldMk cId="109857222" sldId="256"/>
            <ac:spMk id="6" creationId="{4A1464A2-E56F-435A-1B47-B9AAEFD169D5}"/>
          </ac:spMkLst>
        </pc:spChg>
        <pc:picChg chg="add del mod">
          <ac:chgData name="Patel, Jash Miteshkumar" userId="S::j148p961@home.ku.edu::4c728cb0-58fa-4b0d-bcc7-024139908d54" providerId="AD" clId="Web-{0705F4D6-2F64-36E3-9528-63233446CD4E}" dt="2024-12-10T23:19:30.289" v="147"/>
          <ac:picMkLst>
            <pc:docMk/>
            <pc:sldMk cId="109857222" sldId="256"/>
            <ac:picMk id="4" creationId="{FF22AACB-967F-F39D-4670-B5F14BDB0AC4}"/>
          </ac:picMkLst>
        </pc:picChg>
        <pc:picChg chg="add mod">
          <ac:chgData name="Patel, Jash Miteshkumar" userId="S::j148p961@home.ku.edu::4c728cb0-58fa-4b0d-bcc7-024139908d54" providerId="AD" clId="Web-{0705F4D6-2F64-36E3-9528-63233446CD4E}" dt="2024-12-10T23:23:18.045" v="165" actId="1076"/>
          <ac:picMkLst>
            <pc:docMk/>
            <pc:sldMk cId="109857222" sldId="256"/>
            <ac:picMk id="5" creationId="{D34E7DBB-1EB7-B886-8303-2321302F15BD}"/>
          </ac:picMkLst>
        </pc:picChg>
        <pc:picChg chg="add mod">
          <ac:chgData name="Patel, Jash Miteshkumar" userId="S::j148p961@home.ku.edu::4c728cb0-58fa-4b0d-bcc7-024139908d54" providerId="AD" clId="Web-{0705F4D6-2F64-36E3-9528-63233446CD4E}" dt="2024-12-10T23:23:11.013" v="164" actId="1076"/>
          <ac:picMkLst>
            <pc:docMk/>
            <pc:sldMk cId="109857222" sldId="256"/>
            <ac:picMk id="7" creationId="{FE5378B8-B009-D804-3C26-A533C78E6117}"/>
          </ac:picMkLst>
        </pc:picChg>
        <pc:picChg chg="del">
          <ac:chgData name="Patel, Jash Miteshkumar" userId="S::j148p961@home.ku.edu::4c728cb0-58fa-4b0d-bcc7-024139908d54" providerId="AD" clId="Web-{0705F4D6-2F64-36E3-9528-63233446CD4E}" dt="2024-12-10T23:09:01.077" v="2"/>
          <ac:picMkLst>
            <pc:docMk/>
            <pc:sldMk cId="109857222" sldId="256"/>
            <ac:picMk id="8" creationId="{61AD8E31-FB53-BB96-99E4-E04442EF96BC}"/>
          </ac:picMkLst>
        </pc:picChg>
      </pc:sldChg>
      <pc:sldChg chg="del">
        <pc:chgData name="Patel, Jash Miteshkumar" userId="S::j148p961@home.ku.edu::4c728cb0-58fa-4b0d-bcc7-024139908d54" providerId="AD" clId="Web-{0705F4D6-2F64-36E3-9528-63233446CD4E}" dt="2024-12-10T23:10:16.812" v="16"/>
        <pc:sldMkLst>
          <pc:docMk/>
          <pc:sldMk cId="2058962078" sldId="257"/>
        </pc:sldMkLst>
      </pc:sldChg>
      <pc:sldChg chg="del">
        <pc:chgData name="Patel, Jash Miteshkumar" userId="S::j148p961@home.ku.edu::4c728cb0-58fa-4b0d-bcc7-024139908d54" providerId="AD" clId="Web-{0705F4D6-2F64-36E3-9528-63233446CD4E}" dt="2024-12-10T23:24:29.249" v="171"/>
        <pc:sldMkLst>
          <pc:docMk/>
          <pc:sldMk cId="3724689772" sldId="269"/>
        </pc:sldMkLst>
      </pc:sldChg>
      <pc:sldChg chg="del">
        <pc:chgData name="Patel, Jash Miteshkumar" userId="S::j148p961@home.ku.edu::4c728cb0-58fa-4b0d-bcc7-024139908d54" providerId="AD" clId="Web-{0705F4D6-2F64-36E3-9528-63233446CD4E}" dt="2024-12-10T23:10:18.141" v="17"/>
        <pc:sldMkLst>
          <pc:docMk/>
          <pc:sldMk cId="1409425586" sldId="282"/>
        </pc:sldMkLst>
      </pc:sldChg>
      <pc:sldChg chg="modSp">
        <pc:chgData name="Patel, Jash Miteshkumar" userId="S::j148p961@home.ku.edu::4c728cb0-58fa-4b0d-bcc7-024139908d54" providerId="AD" clId="Web-{0705F4D6-2F64-36E3-9528-63233446CD4E}" dt="2024-12-10T23:10:32" v="27" actId="20577"/>
        <pc:sldMkLst>
          <pc:docMk/>
          <pc:sldMk cId="517978717" sldId="283"/>
        </pc:sldMkLst>
        <pc:spChg chg="mod">
          <ac:chgData name="Patel, Jash Miteshkumar" userId="S::j148p961@home.ku.edu::4c728cb0-58fa-4b0d-bcc7-024139908d54" providerId="AD" clId="Web-{0705F4D6-2F64-36E3-9528-63233446CD4E}" dt="2024-12-10T23:10:32" v="27" actId="20577"/>
          <ac:spMkLst>
            <pc:docMk/>
            <pc:sldMk cId="517978717" sldId="283"/>
            <ac:spMk id="2" creationId="{B039D38D-C2EC-B8A4-02A8-7843D3CC9A0F}"/>
          </ac:spMkLst>
        </pc:spChg>
      </pc:sldChg>
      <pc:sldChg chg="modSp">
        <pc:chgData name="Patel, Jash Miteshkumar" userId="S::j148p961@home.ku.edu::4c728cb0-58fa-4b0d-bcc7-024139908d54" providerId="AD" clId="Web-{0705F4D6-2F64-36E3-9528-63233446CD4E}" dt="2024-12-10T23:10:41.031" v="37" actId="20577"/>
        <pc:sldMkLst>
          <pc:docMk/>
          <pc:sldMk cId="697606423" sldId="284"/>
        </pc:sldMkLst>
        <pc:spChg chg="mod">
          <ac:chgData name="Patel, Jash Miteshkumar" userId="S::j148p961@home.ku.edu::4c728cb0-58fa-4b0d-bcc7-024139908d54" providerId="AD" clId="Web-{0705F4D6-2F64-36E3-9528-63233446CD4E}" dt="2024-12-10T23:10:41.031" v="37" actId="20577"/>
          <ac:spMkLst>
            <pc:docMk/>
            <pc:sldMk cId="697606423" sldId="284"/>
            <ac:spMk id="2" creationId="{FFF1AF43-3719-71DD-E09E-6A3570CFE298}"/>
          </ac:spMkLst>
        </pc:spChg>
      </pc:sldChg>
      <pc:sldChg chg="modSp">
        <pc:chgData name="Patel, Jash Miteshkumar" userId="S::j148p961@home.ku.edu::4c728cb0-58fa-4b0d-bcc7-024139908d54" providerId="AD" clId="Web-{0705F4D6-2F64-36E3-9528-63233446CD4E}" dt="2024-12-10T23:10:48.657" v="45" actId="20577"/>
        <pc:sldMkLst>
          <pc:docMk/>
          <pc:sldMk cId="2505469884" sldId="285"/>
        </pc:sldMkLst>
        <pc:spChg chg="mod">
          <ac:chgData name="Patel, Jash Miteshkumar" userId="S::j148p961@home.ku.edu::4c728cb0-58fa-4b0d-bcc7-024139908d54" providerId="AD" clId="Web-{0705F4D6-2F64-36E3-9528-63233446CD4E}" dt="2024-12-10T23:10:48.657" v="45" actId="20577"/>
          <ac:spMkLst>
            <pc:docMk/>
            <pc:sldMk cId="2505469884" sldId="285"/>
            <ac:spMk id="2" creationId="{FFF1AF43-3719-71DD-E09E-6A3570CFE298}"/>
          </ac:spMkLst>
        </pc:spChg>
      </pc:sldChg>
      <pc:sldChg chg="modSp ord">
        <pc:chgData name="Patel, Jash Miteshkumar" userId="S::j148p961@home.ku.edu::4c728cb0-58fa-4b0d-bcc7-024139908d54" providerId="AD" clId="Web-{0705F4D6-2F64-36E3-9528-63233446CD4E}" dt="2024-12-10T23:24:18.561" v="170" actId="20577"/>
        <pc:sldMkLst>
          <pc:docMk/>
          <pc:sldMk cId="1455535063" sldId="288"/>
        </pc:sldMkLst>
        <pc:spChg chg="mod">
          <ac:chgData name="Patel, Jash Miteshkumar" userId="S::j148p961@home.ku.edu::4c728cb0-58fa-4b0d-bcc7-024139908d54" providerId="AD" clId="Web-{0705F4D6-2F64-36E3-9528-63233446CD4E}" dt="2024-12-10T23:24:18.561" v="170" actId="20577"/>
          <ac:spMkLst>
            <pc:docMk/>
            <pc:sldMk cId="1455535063" sldId="288"/>
            <ac:spMk id="2" creationId="{5702D18A-E5D5-FF23-C79B-0B5AE2745EE9}"/>
          </ac:spMkLst>
        </pc:spChg>
        <pc:spChg chg="mod">
          <ac:chgData name="Patel, Jash Miteshkumar" userId="S::j148p961@home.ku.edu::4c728cb0-58fa-4b0d-bcc7-024139908d54" providerId="AD" clId="Web-{0705F4D6-2F64-36E3-9528-63233446CD4E}" dt="2024-12-10T23:16:03.864" v="129" actId="20577"/>
          <ac:spMkLst>
            <pc:docMk/>
            <pc:sldMk cId="1455535063" sldId="288"/>
            <ac:spMk id="3" creationId="{C9058177-FAC3-7205-94A6-663C395DF359}"/>
          </ac:spMkLst>
        </pc:spChg>
      </pc:sldChg>
      <pc:sldChg chg="modSp add replId">
        <pc:chgData name="Patel, Jash Miteshkumar" userId="S::j148p961@home.ku.edu::4c728cb0-58fa-4b0d-bcc7-024139908d54" providerId="AD" clId="Web-{0705F4D6-2F64-36E3-9528-63233446CD4E}" dt="2024-12-10T23:14:59.988" v="90" actId="20577"/>
        <pc:sldMkLst>
          <pc:docMk/>
          <pc:sldMk cId="532650934" sldId="289"/>
        </pc:sldMkLst>
        <pc:spChg chg="mod">
          <ac:chgData name="Patel, Jash Miteshkumar" userId="S::j148p961@home.ku.edu::4c728cb0-58fa-4b0d-bcc7-024139908d54" providerId="AD" clId="Web-{0705F4D6-2F64-36E3-9528-63233446CD4E}" dt="2024-12-10T23:11:27.017" v="56" actId="20577"/>
          <ac:spMkLst>
            <pc:docMk/>
            <pc:sldMk cId="532650934" sldId="289"/>
            <ac:spMk id="2" creationId="{5702D18A-E5D5-FF23-C79B-0B5AE2745EE9}"/>
          </ac:spMkLst>
        </pc:spChg>
        <pc:spChg chg="mod">
          <ac:chgData name="Patel, Jash Miteshkumar" userId="S::j148p961@home.ku.edu::4c728cb0-58fa-4b0d-bcc7-024139908d54" providerId="AD" clId="Web-{0705F4D6-2F64-36E3-9528-63233446CD4E}" dt="2024-12-10T23:14:59.988" v="90" actId="20577"/>
          <ac:spMkLst>
            <pc:docMk/>
            <pc:sldMk cId="532650934" sldId="289"/>
            <ac:spMk id="3" creationId="{C9058177-FAC3-7205-94A6-663C395DF359}"/>
          </ac:spMkLst>
        </pc:spChg>
      </pc:sldChg>
      <pc:sldChg chg="add del replId">
        <pc:chgData name="Patel, Jash Miteshkumar" userId="S::j148p961@home.ku.edu::4c728cb0-58fa-4b0d-bcc7-024139908d54" providerId="AD" clId="Web-{0705F4D6-2F64-36E3-9528-63233446CD4E}" dt="2024-12-10T23:11:05.047" v="47"/>
        <pc:sldMkLst>
          <pc:docMk/>
          <pc:sldMk cId="2829661310" sldId="289"/>
        </pc:sldMkLst>
      </pc:sldChg>
    </pc:docChg>
  </pc:docChgLst>
  <pc:docChgLst>
    <pc:chgData name="Patel, Jash Miteshkumar" userId="4c728cb0-58fa-4b0d-bcc7-024139908d54" providerId="ADAL" clId="{39433A32-6E60-4DF4-8E67-FEC69DD9883C}"/>
    <pc:docChg chg="undo custSel modSld sldOrd">
      <pc:chgData name="Patel, Jash Miteshkumar" userId="4c728cb0-58fa-4b0d-bcc7-024139908d54" providerId="ADAL" clId="{39433A32-6E60-4DF4-8E67-FEC69DD9883C}" dt="2024-12-11T17:39:04.871" v="45"/>
      <pc:docMkLst>
        <pc:docMk/>
      </pc:docMkLst>
      <pc:sldChg chg="addSp modSp mod setBg">
        <pc:chgData name="Patel, Jash Miteshkumar" userId="4c728cb0-58fa-4b0d-bcc7-024139908d54" providerId="ADAL" clId="{39433A32-6E60-4DF4-8E67-FEC69DD9883C}" dt="2024-12-11T17:36:08.899" v="15" actId="27614"/>
        <pc:sldMkLst>
          <pc:docMk/>
          <pc:sldMk cId="109857222" sldId="256"/>
        </pc:sldMkLst>
        <pc:spChg chg="mod">
          <ac:chgData name="Patel, Jash Miteshkumar" userId="4c728cb0-58fa-4b0d-bcc7-024139908d54" providerId="ADAL" clId="{39433A32-6E60-4DF4-8E67-FEC69DD9883C}" dt="2024-12-11T17:36:03.401" v="13" actId="26606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Patel, Jash Miteshkumar" userId="4c728cb0-58fa-4b0d-bcc7-024139908d54" providerId="ADAL" clId="{39433A32-6E60-4DF4-8E67-FEC69DD9883C}" dt="2024-12-11T17:36:03.401" v="13" actId="26606"/>
          <ac:spMkLst>
            <pc:docMk/>
            <pc:sldMk cId="109857222" sldId="256"/>
            <ac:spMk id="6" creationId="{4A1464A2-E56F-435A-1B47-B9AAEFD169D5}"/>
          </ac:spMkLst>
        </pc:spChg>
        <pc:spChg chg="add">
          <ac:chgData name="Patel, Jash Miteshkumar" userId="4c728cb0-58fa-4b0d-bcc7-024139908d54" providerId="ADAL" clId="{39433A32-6E60-4DF4-8E67-FEC69DD9883C}" dt="2024-12-11T17:36:03.401" v="13" actId="26606"/>
          <ac:spMkLst>
            <pc:docMk/>
            <pc:sldMk cId="109857222" sldId="256"/>
            <ac:spMk id="12" creationId="{FB33DC6A-1F1C-4A06-834E-CFF88F1C0BB9}"/>
          </ac:spMkLst>
        </pc:spChg>
        <pc:spChg chg="add">
          <ac:chgData name="Patel, Jash Miteshkumar" userId="4c728cb0-58fa-4b0d-bcc7-024139908d54" providerId="ADAL" clId="{39433A32-6E60-4DF4-8E67-FEC69DD9883C}" dt="2024-12-11T17:36:03.401" v="13" actId="26606"/>
          <ac:spMkLst>
            <pc:docMk/>
            <pc:sldMk cId="109857222" sldId="256"/>
            <ac:spMk id="14" creationId="{0FE1D5CF-87B8-4A8A-AD3C-01D06A60769B}"/>
          </ac:spMkLst>
        </pc:spChg>
        <pc:spChg chg="add">
          <ac:chgData name="Patel, Jash Miteshkumar" userId="4c728cb0-58fa-4b0d-bcc7-024139908d54" providerId="ADAL" clId="{39433A32-6E60-4DF4-8E67-FEC69DD9883C}" dt="2024-12-11T17:36:03.401" v="13" actId="26606"/>
          <ac:spMkLst>
            <pc:docMk/>
            <pc:sldMk cId="109857222" sldId="256"/>
            <ac:spMk id="16" creationId="{60926200-45C2-41E9-839F-31CD5FE4CD59}"/>
          </ac:spMkLst>
        </pc:spChg>
        <pc:spChg chg="add">
          <ac:chgData name="Patel, Jash Miteshkumar" userId="4c728cb0-58fa-4b0d-bcc7-024139908d54" providerId="ADAL" clId="{39433A32-6E60-4DF4-8E67-FEC69DD9883C}" dt="2024-12-11T17:36:03.401" v="13" actId="26606"/>
          <ac:spMkLst>
            <pc:docMk/>
            <pc:sldMk cId="109857222" sldId="256"/>
            <ac:spMk id="18" creationId="{AF2F604E-43BE-4DC3-B983-E071523364F8}"/>
          </ac:spMkLst>
        </pc:spChg>
        <pc:spChg chg="add">
          <ac:chgData name="Patel, Jash Miteshkumar" userId="4c728cb0-58fa-4b0d-bcc7-024139908d54" providerId="ADAL" clId="{39433A32-6E60-4DF4-8E67-FEC69DD9883C}" dt="2024-12-11T17:36:03.401" v="13" actId="26606"/>
          <ac:spMkLst>
            <pc:docMk/>
            <pc:sldMk cId="109857222" sldId="256"/>
            <ac:spMk id="20" creationId="{08C9B587-E65E-4B52-B37C-ABEBB6E87928}"/>
          </ac:spMkLst>
        </pc:spChg>
        <pc:picChg chg="mod">
          <ac:chgData name="Patel, Jash Miteshkumar" userId="4c728cb0-58fa-4b0d-bcc7-024139908d54" providerId="ADAL" clId="{39433A32-6E60-4DF4-8E67-FEC69DD9883C}" dt="2024-12-11T17:36:08.899" v="15" actId="27614"/>
          <ac:picMkLst>
            <pc:docMk/>
            <pc:sldMk cId="109857222" sldId="256"/>
            <ac:picMk id="5" creationId="{D34E7DBB-1EB7-B886-8303-2321302F15BD}"/>
          </ac:picMkLst>
        </pc:picChg>
        <pc:picChg chg="mod">
          <ac:chgData name="Patel, Jash Miteshkumar" userId="4c728cb0-58fa-4b0d-bcc7-024139908d54" providerId="ADAL" clId="{39433A32-6E60-4DF4-8E67-FEC69DD9883C}" dt="2024-12-11T17:36:08.001" v="14" actId="27614"/>
          <ac:picMkLst>
            <pc:docMk/>
            <pc:sldMk cId="109857222" sldId="256"/>
            <ac:picMk id="7" creationId="{FE5378B8-B009-D804-3C26-A533C78E6117}"/>
          </ac:picMkLst>
        </pc:picChg>
      </pc:sldChg>
      <pc:sldChg chg="modSp">
        <pc:chgData name="Patel, Jash Miteshkumar" userId="4c728cb0-58fa-4b0d-bcc7-024139908d54" providerId="ADAL" clId="{39433A32-6E60-4DF4-8E67-FEC69DD9883C}" dt="2024-12-11T17:35:48.796" v="12"/>
        <pc:sldMkLst>
          <pc:docMk/>
          <pc:sldMk cId="1203257258" sldId="270"/>
        </pc:sldMkLst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1203257258" sldId="270"/>
            <ac:spMk id="3" creationId="{08B9FE48-CAD5-3C38-A9A6-EC70CCF508AC}"/>
          </ac:spMkLst>
        </pc:spChg>
      </pc:sldChg>
      <pc:sldChg chg="modSp mod ord">
        <pc:chgData name="Patel, Jash Miteshkumar" userId="4c728cb0-58fa-4b0d-bcc7-024139908d54" providerId="ADAL" clId="{39433A32-6E60-4DF4-8E67-FEC69DD9883C}" dt="2024-12-11T17:39:04.871" v="45"/>
        <pc:sldMkLst>
          <pc:docMk/>
          <pc:sldMk cId="517978717" sldId="283"/>
        </pc:sldMkLst>
        <pc:spChg chg="mod">
          <ac:chgData name="Patel, Jash Miteshkumar" userId="4c728cb0-58fa-4b0d-bcc7-024139908d54" providerId="ADAL" clId="{39433A32-6E60-4DF4-8E67-FEC69DD9883C}" dt="2024-12-11T17:34:00.980" v="10" actId="255"/>
          <ac:spMkLst>
            <pc:docMk/>
            <pc:sldMk cId="517978717" sldId="283"/>
            <ac:spMk id="3" creationId="{51CBAA92-E38F-CE24-88C3-1AC45EAF8F6F}"/>
          </ac:spMkLst>
        </pc:spChg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517978717" sldId="283"/>
            <ac:spMk id="4" creationId="{53D785E6-AD66-BC3B-0699-F1F39CEB8835}"/>
          </ac:spMkLst>
        </pc:spChg>
      </pc:sldChg>
      <pc:sldChg chg="modSp">
        <pc:chgData name="Patel, Jash Miteshkumar" userId="4c728cb0-58fa-4b0d-bcc7-024139908d54" providerId="ADAL" clId="{39433A32-6E60-4DF4-8E67-FEC69DD9883C}" dt="2024-12-11T17:35:48.796" v="12"/>
        <pc:sldMkLst>
          <pc:docMk/>
          <pc:sldMk cId="697606423" sldId="284"/>
        </pc:sldMkLst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697606423" sldId="284"/>
            <ac:spMk id="2" creationId="{FFF1AF43-3719-71DD-E09E-6A3570CFE298}"/>
          </ac:spMkLst>
        </pc:spChg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697606423" sldId="284"/>
            <ac:spMk id="5" creationId="{0CE35EA2-034E-39B5-4CC9-BEACA6A829F9}"/>
          </ac:spMkLst>
        </pc:spChg>
      </pc:sldChg>
      <pc:sldChg chg="modSp">
        <pc:chgData name="Patel, Jash Miteshkumar" userId="4c728cb0-58fa-4b0d-bcc7-024139908d54" providerId="ADAL" clId="{39433A32-6E60-4DF4-8E67-FEC69DD9883C}" dt="2024-12-11T17:35:48.796" v="12"/>
        <pc:sldMkLst>
          <pc:docMk/>
          <pc:sldMk cId="2505469884" sldId="285"/>
        </pc:sldMkLst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2505469884" sldId="285"/>
            <ac:spMk id="2" creationId="{FFF1AF43-3719-71DD-E09E-6A3570CFE298}"/>
          </ac:spMkLst>
        </pc:spChg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2505469884" sldId="285"/>
            <ac:spMk id="5" creationId="{0CE35EA2-034E-39B5-4CC9-BEACA6A829F9}"/>
          </ac:spMkLst>
        </pc:spChg>
      </pc:sldChg>
      <pc:sldChg chg="modSp">
        <pc:chgData name="Patel, Jash Miteshkumar" userId="4c728cb0-58fa-4b0d-bcc7-024139908d54" providerId="ADAL" clId="{39433A32-6E60-4DF4-8E67-FEC69DD9883C}" dt="2024-12-11T17:35:48.796" v="12"/>
        <pc:sldMkLst>
          <pc:docMk/>
          <pc:sldMk cId="2142330057" sldId="286"/>
        </pc:sldMkLst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2142330057" sldId="286"/>
            <ac:spMk id="2" creationId="{C3BC4BD8-4076-D17B-1D86-0D488E8DEE0F}"/>
          </ac:spMkLst>
        </pc:spChg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2142330057" sldId="286"/>
            <ac:spMk id="4" creationId="{28D4A61B-1BA4-FC08-2EA2-FD078D8ACC32}"/>
          </ac:spMkLst>
        </pc:spChg>
      </pc:sldChg>
      <pc:sldChg chg="modSp">
        <pc:chgData name="Patel, Jash Miteshkumar" userId="4c728cb0-58fa-4b0d-bcc7-024139908d54" providerId="ADAL" clId="{39433A32-6E60-4DF4-8E67-FEC69DD9883C}" dt="2024-12-11T17:35:48.796" v="12"/>
        <pc:sldMkLst>
          <pc:docMk/>
          <pc:sldMk cId="1455535063" sldId="288"/>
        </pc:sldMkLst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1455535063" sldId="288"/>
            <ac:spMk id="2" creationId="{5702D18A-E5D5-FF23-C79B-0B5AE2745EE9}"/>
          </ac:spMkLst>
        </pc:spChg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1455535063" sldId="288"/>
            <ac:spMk id="3" creationId="{C9058177-FAC3-7205-94A6-663C395DF359}"/>
          </ac:spMkLst>
        </pc:spChg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1455535063" sldId="288"/>
            <ac:spMk id="4" creationId="{0894D8F9-F86E-C996-E84D-10D27AAB774E}"/>
          </ac:spMkLst>
        </pc:spChg>
      </pc:sldChg>
      <pc:sldChg chg="modSp mod">
        <pc:chgData name="Patel, Jash Miteshkumar" userId="4c728cb0-58fa-4b0d-bcc7-024139908d54" providerId="ADAL" clId="{39433A32-6E60-4DF4-8E67-FEC69DD9883C}" dt="2024-12-11T17:38:49.328" v="43" actId="20577"/>
        <pc:sldMkLst>
          <pc:docMk/>
          <pc:sldMk cId="532650934" sldId="289"/>
        </pc:sldMkLst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532650934" sldId="289"/>
            <ac:spMk id="2" creationId="{5702D18A-E5D5-FF23-C79B-0B5AE2745EE9}"/>
          </ac:spMkLst>
        </pc:spChg>
        <pc:spChg chg="mod">
          <ac:chgData name="Patel, Jash Miteshkumar" userId="4c728cb0-58fa-4b0d-bcc7-024139908d54" providerId="ADAL" clId="{39433A32-6E60-4DF4-8E67-FEC69DD9883C}" dt="2024-12-11T17:38:49.328" v="43" actId="20577"/>
          <ac:spMkLst>
            <pc:docMk/>
            <pc:sldMk cId="532650934" sldId="289"/>
            <ac:spMk id="3" creationId="{C9058177-FAC3-7205-94A6-663C395DF359}"/>
          </ac:spMkLst>
        </pc:spChg>
        <pc:spChg chg="mod">
          <ac:chgData name="Patel, Jash Miteshkumar" userId="4c728cb0-58fa-4b0d-bcc7-024139908d54" providerId="ADAL" clId="{39433A32-6E60-4DF4-8E67-FEC69DD9883C}" dt="2024-12-11T17:35:48.796" v="12"/>
          <ac:spMkLst>
            <pc:docMk/>
            <pc:sldMk cId="532650934" sldId="289"/>
            <ac:spMk id="4" creationId="{0894D8F9-F86E-C996-E84D-10D27AAB774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2383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0429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8712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9532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5671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0832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9642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4406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048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3518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5215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6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098" y="1106034"/>
            <a:ext cx="501907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/>
              <a:t>Insights of 2023 US Credit Card Data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34E7DBB-1EB7-B886-8303-2321302F1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071" y="672924"/>
            <a:ext cx="4708831" cy="264871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E5378B8-B009-D804-3C26-A533C78E6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071" y="3603436"/>
            <a:ext cx="4708833" cy="263694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464A2-E56F-435A-1B47-B9AAEFD1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50" y="6356350"/>
            <a:ext cx="120325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8F63A3B-78C7-47BE-AE5E-E10140E04643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D38D-C2EC-B8A4-02A8-7843D3CC9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69908"/>
            <a:ext cx="3933004" cy="1087492"/>
          </a:xfrm>
        </p:spPr>
        <p:txBody>
          <a:bodyPr>
            <a:noAutofit/>
          </a:bodyPr>
          <a:lstStyle/>
          <a:p>
            <a:r>
              <a:rPr lang="en-US" sz="4400" dirty="0"/>
              <a:t>Key Insights</a:t>
            </a: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19745698-CC20-CA9B-AAFA-CD4A1BF764E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409" b="2409"/>
          <a:stretch/>
        </p:blipFill>
        <p:spPr>
          <a:xfrm>
            <a:off x="4792498" y="446470"/>
            <a:ext cx="3239924" cy="2706086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BAA92-E38F-CE24-88C3-1AC45EAF8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25262"/>
            <a:ext cx="4046099" cy="32335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latin typeface="Arial"/>
                <a:cs typeface="Arial"/>
              </a:rPr>
              <a:t>Customer Behavior Analysis</a:t>
            </a:r>
          </a:p>
          <a:p>
            <a:pPr marL="285750" indent="-285750">
              <a:buChar char="•"/>
            </a:pPr>
            <a:r>
              <a:rPr lang="en-US" sz="1800" dirty="0">
                <a:latin typeface="Arial"/>
                <a:cs typeface="Arial"/>
              </a:rPr>
              <a:t>Revenue peaked among customers aged </a:t>
            </a:r>
            <a:r>
              <a:rPr lang="en-US" sz="1800" b="1" dirty="0">
                <a:latin typeface="Arial"/>
                <a:cs typeface="Arial"/>
              </a:rPr>
              <a:t>40-50</a:t>
            </a:r>
            <a:r>
              <a:rPr lang="en-US" sz="1800" dirty="0">
                <a:latin typeface="Arial"/>
                <a:cs typeface="Arial"/>
              </a:rPr>
              <a:t>, particularly those in job categories </a:t>
            </a:r>
            <a:r>
              <a:rPr lang="en-US" sz="1800" b="1" dirty="0">
                <a:latin typeface="Arial"/>
                <a:cs typeface="Arial"/>
              </a:rPr>
              <a:t>Business</a:t>
            </a:r>
            <a:r>
              <a:rPr lang="en-US" sz="1800" dirty="0">
                <a:latin typeface="Arial"/>
                <a:cs typeface="Arial"/>
              </a:rPr>
              <a:t> and </a:t>
            </a:r>
            <a:r>
              <a:rPr lang="en-US" sz="1800" b="1" dirty="0">
                <a:latin typeface="Arial"/>
                <a:cs typeface="Arial"/>
              </a:rPr>
              <a:t>White Collar</a:t>
            </a:r>
            <a:r>
              <a:rPr lang="en-US" sz="1800" dirty="0">
                <a:latin typeface="Arial"/>
                <a:cs typeface="Arial"/>
              </a:rPr>
              <a:t>.</a:t>
            </a:r>
          </a:p>
          <a:p>
            <a:pPr marL="285750" indent="-285750">
              <a:buChar char="•"/>
            </a:pPr>
            <a:r>
              <a:rPr lang="en-US" sz="1800" dirty="0">
                <a:latin typeface="Arial"/>
                <a:cs typeface="Arial"/>
              </a:rPr>
              <a:t>Top Expenditure Categories : </a:t>
            </a:r>
            <a:r>
              <a:rPr lang="en-US" sz="1800" b="1" dirty="0">
                <a:latin typeface="Arial"/>
                <a:cs typeface="Arial"/>
              </a:rPr>
              <a:t>Bills (25%)</a:t>
            </a:r>
            <a:r>
              <a:rPr lang="en-US" sz="1800" dirty="0">
                <a:latin typeface="Arial"/>
                <a:cs typeface="Arial"/>
              </a:rPr>
              <a:t> &amp; </a:t>
            </a:r>
            <a:r>
              <a:rPr lang="en-US" sz="1800" b="1" dirty="0">
                <a:latin typeface="Arial"/>
                <a:cs typeface="Arial"/>
              </a:rPr>
              <a:t>Entertainment(17%)</a:t>
            </a:r>
            <a:r>
              <a:rPr lang="en-US" sz="1800" dirty="0">
                <a:latin typeface="Arial"/>
                <a:cs typeface="Arial"/>
              </a:rPr>
              <a:t> dominate spending.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785E6-AD66-BC3B-0699-F1F39CEB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A8FE27-E04D-568A-5825-11C75CE36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780" y="454135"/>
            <a:ext cx="3903061" cy="270028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83F46E0-E4F4-4C79-4F3C-BBE2EBC90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185" y="3510948"/>
            <a:ext cx="3785148" cy="302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78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1AF43-3719-71DD-E09E-6A3570CF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3EF942-AF3B-918F-7021-A6D67743B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557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latin typeface="Arial"/>
                <a:cs typeface="Arial"/>
              </a:rPr>
              <a:t>Customer </a:t>
            </a:r>
            <a:r>
              <a:rPr lang="en-US" sz="2400" b="1" dirty="0">
                <a:latin typeface="Arial"/>
                <a:ea typeface="+mn-lt"/>
                <a:cs typeface="+mn-lt"/>
              </a:rPr>
              <a:t>Satisfaction Insights</a:t>
            </a:r>
            <a:endParaRPr lang="en-US" sz="2400" b="1" dirty="0">
              <a:latin typeface="Arial"/>
              <a:ea typeface="+mn-lt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ea typeface="+mn-lt"/>
                <a:cs typeface="+mn-lt"/>
              </a:rPr>
              <a:t>The average customer satisfaction score is </a:t>
            </a:r>
            <a:r>
              <a:rPr lang="en-US" b="1" dirty="0">
                <a:latin typeface="Arial"/>
                <a:ea typeface="+mn-lt"/>
                <a:cs typeface="+mn-lt"/>
              </a:rPr>
              <a:t>3.19</a:t>
            </a:r>
            <a:r>
              <a:rPr lang="en-US" dirty="0">
                <a:latin typeface="Arial"/>
                <a:ea typeface="+mn-lt"/>
                <a:cs typeface="+mn-lt"/>
              </a:rPr>
              <a:t> on a 1–5 scale, indicating moderate satisfaction levels across all cardholders.</a:t>
            </a:r>
            <a:endParaRPr lang="en-US" b="1" dirty="0">
              <a:latin typeface="Arial"/>
              <a:ea typeface="+mn-lt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ea typeface="+mn-lt"/>
                <a:cs typeface="+mn-lt"/>
              </a:rPr>
              <a:t>The </a:t>
            </a:r>
            <a:r>
              <a:rPr lang="en-US" b="1" dirty="0">
                <a:latin typeface="Arial"/>
                <a:ea typeface="+mn-lt"/>
                <a:cs typeface="+mn-lt"/>
              </a:rPr>
              <a:t>Platinum card</a:t>
            </a:r>
            <a:r>
              <a:rPr lang="en-US" dirty="0">
                <a:latin typeface="Arial"/>
                <a:ea typeface="+mn-lt"/>
                <a:cs typeface="+mn-lt"/>
              </a:rPr>
              <a:t> category has the lowest satisfaction score, at </a:t>
            </a:r>
            <a:r>
              <a:rPr lang="en-US" b="1" dirty="0">
                <a:latin typeface="Arial"/>
                <a:ea typeface="+mn-lt"/>
                <a:cs typeface="+mn-lt"/>
              </a:rPr>
              <a:t>2.72</a:t>
            </a:r>
            <a:r>
              <a:rPr lang="en-US" dirty="0">
                <a:latin typeface="Arial"/>
                <a:ea typeface="+mn-lt"/>
                <a:cs typeface="+mn-lt"/>
              </a:rPr>
              <a:t> on the same scale, suggesting potential dissatisfaction due to factors such as higher fees or fewer benefits.</a:t>
            </a:r>
            <a:endParaRPr lang="en-US" b="1" dirty="0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endParaRPr lang="en-US" sz="2000" b="1" dirty="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35EA2-034E-39B5-4CC9-BEACA6A8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F2F40C-DE71-B4C6-8748-DA26D591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776" y="4124889"/>
            <a:ext cx="7068206" cy="18051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23C47E-04BF-73DE-9A94-7DBCCA914262}"/>
              </a:ext>
            </a:extLst>
          </p:cNvPr>
          <p:cNvSpPr txBox="1"/>
          <p:nvPr/>
        </p:nvSpPr>
        <p:spPr>
          <a:xfrm>
            <a:off x="4493173" y="6037536"/>
            <a:ext cx="359103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latin typeface="Arial"/>
                <a:cs typeface="Arial"/>
              </a:rPr>
              <a:t>Customer Satisfaction Score by Card Category</a:t>
            </a:r>
          </a:p>
        </p:txBody>
      </p:sp>
    </p:spTree>
    <p:extLst>
      <p:ext uri="{BB962C8B-B14F-4D97-AF65-F5344CB8AC3E}">
        <p14:creationId xmlns:p14="http://schemas.microsoft.com/office/powerpoint/2010/main" val="69760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1AF43-3719-71DD-E09E-6A3570CF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3EF942-AF3B-918F-7021-A6D67743B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5260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,Sans-Serif" panose="020B0604020202020204" pitchFamily="34" charset="0"/>
            </a:pPr>
            <a:r>
              <a:rPr lang="en-US" sz="2400" dirty="0">
                <a:latin typeface="Arial"/>
                <a:ea typeface="+mn-lt"/>
                <a:cs typeface="+mn-lt"/>
              </a:rPr>
              <a:t>Male customers contributed </a:t>
            </a:r>
            <a:r>
              <a:rPr lang="en-US" sz="2400" b="1" dirty="0">
                <a:latin typeface="Arial"/>
                <a:ea typeface="+mn-lt"/>
                <a:cs typeface="+mn-lt"/>
              </a:rPr>
              <a:t>$30M</a:t>
            </a:r>
            <a:r>
              <a:rPr lang="en-US" sz="2400" dirty="0">
                <a:latin typeface="Arial"/>
                <a:ea typeface="+mn-lt"/>
                <a:cs typeface="+mn-lt"/>
              </a:rPr>
              <a:t> in revenue, while female customers contributed </a:t>
            </a:r>
            <a:r>
              <a:rPr lang="en-US" sz="2400" b="1" dirty="0">
                <a:latin typeface="Arial"/>
                <a:ea typeface="+mn-lt"/>
                <a:cs typeface="+mn-lt"/>
              </a:rPr>
              <a:t>$25M</a:t>
            </a:r>
            <a:r>
              <a:rPr lang="en-US" sz="2400" dirty="0">
                <a:latin typeface="Arial"/>
                <a:ea typeface="+mn-lt"/>
                <a:cs typeface="+mn-lt"/>
              </a:rPr>
              <a:t>.</a:t>
            </a:r>
            <a:endParaRPr lang="en-US" sz="2400" dirty="0">
              <a:latin typeface="Arial"/>
              <a:cs typeface="Arial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2400" dirty="0">
                <a:latin typeface="Arial"/>
                <a:ea typeface="+mn-lt"/>
                <a:cs typeface="+mn-lt"/>
              </a:rPr>
              <a:t>Revenue Leaders: The five states with the highest revenue earnings are </a:t>
            </a:r>
            <a:r>
              <a:rPr lang="en-US" sz="2400" b="1" dirty="0">
                <a:latin typeface="Arial"/>
                <a:ea typeface="+mn-lt"/>
                <a:cs typeface="+mn-lt"/>
              </a:rPr>
              <a:t>Texas, New York, California, Florida, and New Jersey</a:t>
            </a:r>
            <a:r>
              <a:rPr lang="en-US" sz="2400" dirty="0">
                <a:latin typeface="Arial"/>
                <a:ea typeface="+mn-lt"/>
                <a:cs typeface="+mn-lt"/>
              </a:rPr>
              <a:t> collectively contributing approximately </a:t>
            </a:r>
            <a:r>
              <a:rPr lang="en-US" sz="2400" b="1" dirty="0">
                <a:latin typeface="Arial"/>
                <a:ea typeface="+mn-lt"/>
                <a:cs typeface="+mn-lt"/>
              </a:rPr>
              <a:t>94% </a:t>
            </a:r>
            <a:r>
              <a:rPr lang="en-US" sz="2400" dirty="0">
                <a:latin typeface="Arial"/>
                <a:ea typeface="+mn-lt"/>
                <a:cs typeface="+mn-lt"/>
              </a:rPr>
              <a:t>of the total revenue.</a:t>
            </a:r>
          </a:p>
          <a:p>
            <a:pPr marL="0" indent="0">
              <a:buNone/>
            </a:pPr>
            <a:endParaRPr lang="en-US" sz="2400" b="1" dirty="0">
              <a:latin typeface="Arial"/>
              <a:ea typeface="+mn-lt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35EA2-034E-39B5-4CC9-BEACA6A8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45E80B-A75C-E4B5-6080-BD6270EBB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588" y="1695450"/>
            <a:ext cx="435292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69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4BD8-4076-D17B-1D86-0D488E8D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Performance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24B45-96B1-DB62-308F-A21C35D01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70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latin typeface="Arial"/>
                <a:ea typeface="+mn-lt"/>
                <a:cs typeface="+mn-lt"/>
              </a:rPr>
              <a:t>Revenue Trends</a:t>
            </a:r>
            <a:endParaRPr lang="en-US" sz="2400" b="1" dirty="0">
              <a:latin typeface="Arial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ea typeface="+mn-lt"/>
                <a:cs typeface="+mn-lt"/>
              </a:rPr>
              <a:t>Total revenue of </a:t>
            </a:r>
            <a:r>
              <a:rPr lang="en-US" b="1" dirty="0">
                <a:latin typeface="Arial"/>
                <a:ea typeface="+mn-lt"/>
                <a:cs typeface="+mn-lt"/>
              </a:rPr>
              <a:t>$55.3 million</a:t>
            </a:r>
            <a:r>
              <a:rPr lang="en-US" dirty="0">
                <a:latin typeface="Arial"/>
                <a:ea typeface="+mn-lt"/>
                <a:cs typeface="+mn-lt"/>
              </a:rPr>
              <a:t>, with the </a:t>
            </a:r>
            <a:r>
              <a:rPr lang="en-US" b="1" dirty="0">
                <a:latin typeface="Arial"/>
                <a:ea typeface="+mn-lt"/>
                <a:cs typeface="+mn-lt"/>
              </a:rPr>
              <a:t>Blue </a:t>
            </a:r>
            <a:r>
              <a:rPr lang="en-US" dirty="0">
                <a:latin typeface="Arial"/>
                <a:ea typeface="+mn-lt"/>
                <a:cs typeface="+mn-lt"/>
              </a:rPr>
              <a:t>card category leading revenue contributions.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latin typeface="Arial"/>
                <a:ea typeface="+mn-lt"/>
                <a:cs typeface="+mn-lt"/>
              </a:rPr>
              <a:t>Quarterly Trends</a:t>
            </a:r>
            <a:r>
              <a:rPr lang="en-US" dirty="0">
                <a:latin typeface="Arial"/>
                <a:ea typeface="+mn-lt"/>
                <a:cs typeface="+mn-lt"/>
              </a:rPr>
              <a:t>: Revenue growth peaked in </a:t>
            </a:r>
            <a:r>
              <a:rPr lang="en-US" b="1" dirty="0">
                <a:latin typeface="Arial"/>
                <a:ea typeface="+mn-lt"/>
                <a:cs typeface="+mn-lt"/>
              </a:rPr>
              <a:t>Q3</a:t>
            </a:r>
            <a:r>
              <a:rPr lang="en-US" dirty="0">
                <a:latin typeface="Arial"/>
                <a:ea typeface="+mn-lt"/>
                <a:cs typeface="+mn-lt"/>
              </a:rPr>
              <a:t>, while it was the lowest in </a:t>
            </a:r>
            <a:r>
              <a:rPr lang="en-US" b="1" dirty="0">
                <a:latin typeface="Arial"/>
                <a:ea typeface="+mn-lt"/>
                <a:cs typeface="+mn-lt"/>
              </a:rPr>
              <a:t>Q4</a:t>
            </a:r>
            <a:r>
              <a:rPr lang="en-US" dirty="0">
                <a:latin typeface="Arial"/>
                <a:ea typeface="+mn-lt"/>
                <a:cs typeface="+mn-lt"/>
              </a:rPr>
              <a:t>. (</a:t>
            </a:r>
            <a:r>
              <a:rPr lang="en-US" i="1" dirty="0">
                <a:latin typeface="Arial"/>
                <a:ea typeface="+mn-lt"/>
                <a:cs typeface="+mn-lt"/>
              </a:rPr>
              <a:t>Interesting !!!</a:t>
            </a:r>
            <a:r>
              <a:rPr lang="en-US" dirty="0">
                <a:latin typeface="Arial"/>
                <a:ea typeface="+mn-lt"/>
                <a:cs typeface="Arial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4A61B-1BA4-FC08-2EA2-FD078D8A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4D29B-BBFF-4802-7903-A4A6084868A1}"/>
              </a:ext>
            </a:extLst>
          </p:cNvPr>
          <p:cNvSpPr txBox="1"/>
          <p:nvPr/>
        </p:nvSpPr>
        <p:spPr>
          <a:xfrm>
            <a:off x="834915" y="3957473"/>
            <a:ext cx="598958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/>
              <a:t>Credit cards were used through swipe, online, and chip methods, with </a:t>
            </a:r>
            <a:r>
              <a:rPr lang="en-US" sz="2400" b="1" dirty="0"/>
              <a:t>swipe</a:t>
            </a:r>
            <a:r>
              <a:rPr lang="en-US" sz="2400" dirty="0"/>
              <a:t> transactions generating </a:t>
            </a:r>
            <a:r>
              <a:rPr lang="en-US" sz="2400" b="1" dirty="0"/>
              <a:t>63%</a:t>
            </a:r>
            <a:r>
              <a:rPr lang="en-US" sz="2400" dirty="0"/>
              <a:t> of the revenue, highlighting their dominance in payment preferences.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543EA5-C424-F8A5-EB77-400B0296A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063" y="3590925"/>
            <a:ext cx="313372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30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D18A-E5D5-FF23-C79B-0B5AE274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Performance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58177-FAC3-7205-94A6-663C395DF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Overall Activation rate is </a:t>
            </a:r>
            <a:r>
              <a:rPr lang="en-US" sz="2400" b="1" dirty="0">
                <a:ea typeface="+mn-lt"/>
                <a:cs typeface="+mn-lt"/>
              </a:rPr>
              <a:t>57.5%</a:t>
            </a:r>
            <a:endParaRPr lang="en-US" sz="2400" b="1" dirty="0">
              <a:latin typeface="Arial"/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Overall Delinquent rate is </a:t>
            </a:r>
            <a:r>
              <a:rPr lang="en-US" sz="2400" b="1" dirty="0">
                <a:ea typeface="+mn-lt"/>
                <a:cs typeface="+mn-lt"/>
              </a:rPr>
              <a:t>6.06%</a:t>
            </a:r>
            <a:endParaRPr lang="en-US" sz="2400" b="1" dirty="0"/>
          </a:p>
          <a:p>
            <a:r>
              <a:rPr lang="en-US" sz="2400" dirty="0">
                <a:ea typeface="+mn-lt"/>
                <a:cs typeface="+mn-lt"/>
              </a:rPr>
              <a:t>Blue &amp; Silver credit cards contribute to around </a:t>
            </a:r>
            <a:r>
              <a:rPr lang="en-US" sz="2400" b="1" dirty="0">
                <a:ea typeface="+mn-lt"/>
                <a:cs typeface="+mn-lt"/>
              </a:rPr>
              <a:t>92%</a:t>
            </a:r>
            <a:r>
              <a:rPr lang="en-US" sz="2400" dirty="0">
                <a:ea typeface="+mn-lt"/>
                <a:cs typeface="+mn-lt"/>
              </a:rPr>
              <a:t> of overall transactions.</a:t>
            </a:r>
            <a:endParaRPr lang="en-US" sz="2400" b="1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Total transaction amount is </a:t>
            </a:r>
            <a:r>
              <a:rPr lang="en-US" sz="2400" b="1" dirty="0">
                <a:ea typeface="+mn-lt"/>
                <a:cs typeface="+mn-lt"/>
              </a:rPr>
              <a:t>44.5M</a:t>
            </a:r>
            <a:endParaRPr lang="en-US" sz="2400" b="1" dirty="0">
              <a:latin typeface="Aptos"/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Amount earned by interest is </a:t>
            </a:r>
            <a:r>
              <a:rPr lang="en-US" sz="2400" b="1" dirty="0">
                <a:ea typeface="+mn-lt"/>
                <a:cs typeface="+mn-lt"/>
              </a:rPr>
              <a:t>7.8M</a:t>
            </a:r>
            <a:endParaRPr lang="en-US" sz="2400" b="1" dirty="0">
              <a:latin typeface="Aptos"/>
              <a:ea typeface="+mn-lt"/>
              <a:cs typeface="+mn-lt"/>
            </a:endParaRPr>
          </a:p>
          <a:p>
            <a:r>
              <a:rPr lang="en-US" sz="2400" i="1" dirty="0">
                <a:ea typeface="+mn-lt"/>
                <a:cs typeface="+mn-lt"/>
              </a:rPr>
              <a:t>An </a:t>
            </a:r>
            <a:r>
              <a:rPr lang="en-US" sz="2400" b="1" i="1" dirty="0">
                <a:ea typeface="+mn-lt"/>
                <a:cs typeface="+mn-lt"/>
              </a:rPr>
              <a:t>interesting observation</a:t>
            </a:r>
            <a:r>
              <a:rPr lang="en-US" sz="2400" i="1" dirty="0">
                <a:ea typeface="+mn-lt"/>
                <a:cs typeface="+mn-lt"/>
              </a:rPr>
              <a:t> from the dashboard is that females in the low- and medium-income categories (Income &lt;$70,000) contributed significantly to revenue, while males in the high-income category (Income &gt;$70,000) dominated revenue contributions.</a:t>
            </a:r>
            <a:endParaRPr lang="en-US" sz="2400" b="1" i="1" dirty="0">
              <a:latin typeface="Aptos"/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4D8F9-F86E-C996-E84D-10D27AAB7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50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D18A-E5D5-FF23-C79B-0B5AE274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2024 Year Business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58177-FAC3-7205-94A6-663C395DF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Arial"/>
                <a:ea typeface="+mn-lt"/>
                <a:cs typeface="+mn-lt"/>
              </a:rPr>
              <a:t>Focus marketing efforts on </a:t>
            </a:r>
            <a:r>
              <a:rPr lang="en-US" sz="2400" b="1" dirty="0">
                <a:latin typeface="Arial"/>
                <a:ea typeface="+mn-lt"/>
                <a:cs typeface="+mn-lt"/>
              </a:rPr>
              <a:t>top-revenue states</a:t>
            </a:r>
            <a:r>
              <a:rPr lang="en-US" sz="2400" dirty="0">
                <a:latin typeface="Arial"/>
                <a:ea typeface="+mn-lt"/>
                <a:cs typeface="+mn-lt"/>
              </a:rPr>
              <a:t> to amplify spending while also targeting underperforming regions with tailored incentives.</a:t>
            </a:r>
          </a:p>
          <a:p>
            <a:r>
              <a:rPr lang="en-US" sz="2400" dirty="0">
                <a:latin typeface="Arial"/>
                <a:ea typeface="+mn-lt"/>
                <a:cs typeface="+mn-lt"/>
              </a:rPr>
              <a:t>Tailored Marketing Campaigns for Customers Whose Age between </a:t>
            </a:r>
            <a:r>
              <a:rPr lang="en-US" sz="2400" b="1" dirty="0">
                <a:latin typeface="Arial"/>
                <a:ea typeface="+mn-lt"/>
                <a:cs typeface="+mn-lt"/>
              </a:rPr>
              <a:t>40-50</a:t>
            </a:r>
            <a:r>
              <a:rPr lang="en-US" sz="2400" dirty="0">
                <a:latin typeface="Arial"/>
                <a:ea typeface="+mn-lt"/>
                <a:cs typeface="+mn-lt"/>
              </a:rPr>
              <a:t>.</a:t>
            </a:r>
          </a:p>
          <a:p>
            <a:r>
              <a:rPr lang="en-US" sz="2400" dirty="0">
                <a:latin typeface="Arial"/>
                <a:ea typeface="+mn-lt"/>
                <a:cs typeface="+mn-lt"/>
              </a:rPr>
              <a:t>Encourage swipe transactions by offering cashback or reward points, leveraging their </a:t>
            </a:r>
            <a:r>
              <a:rPr lang="en-US" sz="2400" b="1" dirty="0">
                <a:latin typeface="Arial"/>
                <a:ea typeface="+mn-lt"/>
                <a:cs typeface="+mn-lt"/>
              </a:rPr>
              <a:t>63%</a:t>
            </a:r>
            <a:r>
              <a:rPr lang="en-US" sz="2400" dirty="0">
                <a:latin typeface="Arial"/>
                <a:ea typeface="+mn-lt"/>
                <a:cs typeface="+mn-lt"/>
              </a:rPr>
              <a:t> contribution to revenue.</a:t>
            </a:r>
          </a:p>
          <a:p>
            <a:r>
              <a:rPr lang="en-US" sz="2400" dirty="0">
                <a:latin typeface="Arial"/>
                <a:ea typeface="+mn-lt"/>
                <a:cs typeface="+mn-lt"/>
              </a:rPr>
              <a:t>Launch promotions tied to holiday sales, encouraging customers to use credit cards for </a:t>
            </a:r>
            <a:r>
              <a:rPr lang="en-US" sz="2400" b="1" dirty="0">
                <a:latin typeface="Arial"/>
                <a:ea typeface="+mn-lt"/>
                <a:cs typeface="+mn-lt"/>
              </a:rPr>
              <a:t>store purchases</a:t>
            </a:r>
            <a:r>
              <a:rPr lang="en-US" sz="2400" dirty="0">
                <a:latin typeface="Arial"/>
                <a:ea typeface="+mn-lt"/>
                <a:cs typeface="+mn-lt"/>
              </a:rPr>
              <a:t> with incentives like cashback, rewards points, or discounts for in-store shopping.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4D8F9-F86E-C996-E84D-10D27AAB7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35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53E5D-745E-3591-5C6E-76DE09314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00885"/>
          </a:xfrm>
        </p:spPr>
        <p:txBody>
          <a:bodyPr/>
          <a:lstStyle/>
          <a:p>
            <a:pPr algn="ctr"/>
            <a:r>
              <a:rPr lang="en-US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B9FE48-CAD5-3C38-A9A6-EC70CCF5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57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400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Arial,Sans-Serif</vt:lpstr>
      <vt:lpstr>Calibri</vt:lpstr>
      <vt:lpstr>Courier New</vt:lpstr>
      <vt:lpstr>Office Theme</vt:lpstr>
      <vt:lpstr>Insights of 2023 US Credit Card Data </vt:lpstr>
      <vt:lpstr>Key Insights</vt:lpstr>
      <vt:lpstr>Key Insights</vt:lpstr>
      <vt:lpstr>Key Insights</vt:lpstr>
      <vt:lpstr>Financial Performance Insights</vt:lpstr>
      <vt:lpstr>Financial Performance Insights</vt:lpstr>
      <vt:lpstr>Possible 2024 Year Business Implications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Patel, Jash Miteshkumar</cp:lastModifiedBy>
  <cp:revision>870</cp:revision>
  <dcterms:created xsi:type="dcterms:W3CDTF">2024-10-08T20:09:14Z</dcterms:created>
  <dcterms:modified xsi:type="dcterms:W3CDTF">2024-12-11T17:39:06Z</dcterms:modified>
</cp:coreProperties>
</file>